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6B6D4"/>
                </a:solidFill>
                <a:latin typeface="Calibri"/>
              </a:defRPr>
            </a:pPr>
            <a:r>
              <a:t>AI IMPACT 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BD5E1"/>
                </a:solidFill>
                <a:latin typeface="Calibri"/>
              </a:defRPr>
            </a:pPr>
            <a:r>
              <a:t>IoT-Powered Intelligence for Sustainable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00400"/>
            <a:ext cx="210312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35661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 comprehensive IoT platform integrating 16+ real-time sensors with UN Sustainable Development Goals,</a:t>
            </a:r>
            <a:br/>
            <a:r>
              <a:t>advanced Data Analysis, predictive Data Science models, and Generative AI — built for young innovators.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4846320"/>
            <a:ext cx="1426464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🌍  UNSDG Goals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4846320"/>
            <a:ext cx="1591056" cy="29260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📊  Data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846320"/>
            <a:ext cx="1508760" cy="29260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🔮  Data Science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59" y="4846320"/>
            <a:ext cx="1591056" cy="2926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🤖  Generative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30936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Powered by FastAPI  •  Chart.js  •  OpenAI GPT-4o  •  ARIMA / SARIMA / LSTM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0B981"/>
                </a:solidFill>
                <a:latin typeface="Calibri"/>
              </a:defRPr>
            </a:pPr>
            <a:r>
              <a:t>🌍  UN Sustainable Development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Mapping real-world IoT sensor data to global sustainability targets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394960" cy="2103120"/>
          </a:xfrm>
          <a:prstGeom prst="roundRect">
            <a:avLst/>
          </a:prstGeom>
          <a:solidFill>
            <a:srgbClr val="1218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5303520" cy="50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🌾  SDG 2 — Zero Hunger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Sensors: Gas, Humidity, Soil Moisture, Liquid Temp, Raindrop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Monitors agricultural conditions &amp; food safety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AI correlates sensor trends to crop health insights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394960" cy="2103120"/>
          </a:xfrm>
          <a:prstGeom prst="roundRect">
            <a:avLst/>
          </a:prstGeom>
          <a:solidFill>
            <a:srgbClr val="12182A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5303520" cy="5080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❤️  SDG 3 — Good Health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0312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Sensors: Heart Rate, SpO₂, Body Temp, Sound, Gas, Light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Tracks health vitals &amp; environmental health factors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GenAI provides child-friendly health explanations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5394960" cy="2103120"/>
          </a:xfrm>
          <a:prstGeom prst="roundRect">
            <a:avLst/>
          </a:prstGeom>
          <a:solidFill>
            <a:srgbClr val="1218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3977640"/>
            <a:ext cx="5303520" cy="50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🌍  SDG 13 — Climate 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72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Sensors: Raindrop, Humidity, Liquid Temp, Light, Gas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Monitors climate-related indicators in real-time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Predictive models forecast environmental changes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931920"/>
            <a:ext cx="5394960" cy="2103120"/>
          </a:xfrm>
          <a:prstGeom prst="roundRect">
            <a:avLst/>
          </a:prstGeom>
          <a:solidFill>
            <a:srgbClr val="12182A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63640" y="3977640"/>
            <a:ext cx="5303520" cy="508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🏙️  SDG 11 — Sustainable Cities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572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Sensors: Vibration, Flame, Motion, Gas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Urban safety &amp; infrastructure monitoring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Data Science detects anomalies for city safety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6309360"/>
            <a:ext cx="11247120" cy="365760"/>
          </a:xfrm>
          <a:prstGeom prst="round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6B6D4"/>
                </a:solidFill>
                <a:latin typeface="Calibri"/>
              </a:defRPr>
            </a:pPr>
            <a:r>
              <a:t>✦  16+ IoT sensors  →  4 UNSDG Goals  →  Real-time correlation  →  AI-powered insights  →  Child-safe guardrails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6B6D4"/>
                </a:solidFill>
                <a:latin typeface="Calibri"/>
              </a:defRPr>
            </a:pPr>
            <a:r>
              <a:t>📊 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Collect, clean, and visualize real-time IoT telemetry with intelligent charting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394960" cy="2103120"/>
          </a:xfrm>
          <a:prstGeom prst="roundRect">
            <a:avLst/>
          </a:prstGeom>
          <a:solidFill>
            <a:srgbClr val="1218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5303520" cy="508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📡  Telemetry Collection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Background data collection for configurable durations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Progress bar with elapsed timer feedback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Supports 16 sensor types simultaneously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Sequential, race-condition-free sampling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394960" cy="2103120"/>
          </a:xfrm>
          <a:prstGeom prst="roundRect">
            <a:avLst/>
          </a:prstGeom>
          <a:solidFill>
            <a:srgbClr val="1218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5303520" cy="50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🧹  Data Cleaning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0312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Forward-fill &amp; backward-fill imputation for missing values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Rolling-average outlier smoothing (4x spike detection)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Console metrics reporting (imputed/smoothed counts)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Ensures gap-free, smooth visualizations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5394960" cy="2103120"/>
          </a:xfrm>
          <a:prstGeom prst="roundRect">
            <a:avLst/>
          </a:prstGeom>
          <a:solidFill>
            <a:srgbClr val="12182A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3977640"/>
            <a:ext cx="5303520" cy="508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📈  Multi-Chart Visualization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72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6 chart types: Line, Bar, Pie, Doughnut, Radar, Polar Area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UNSDG-grouped sensor presets for quick analysis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Configurable X/Y axes &amp; chart duration selector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Chart.js powered with premium dark-theme styling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931920"/>
            <a:ext cx="5394960" cy="2103120"/>
          </a:xfrm>
          <a:prstGeom prst="roundRect">
            <a:avLst/>
          </a:prstGeom>
          <a:solidFill>
            <a:srgbClr val="1218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63640" y="3977640"/>
            <a:ext cx="5303520" cy="50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🤖  GenAI Text-to-Chart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572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Natural language → chart: 'Plot gas vs humidity for 30s'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AI parses sensors, chart type &amp; duration automatically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Cross-sensor correlation &amp; root-cause analysis by GPT-4o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Child-safe content guardrails on all AI outputs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6309360"/>
            <a:ext cx="11247120" cy="365760"/>
          </a:xfrm>
          <a:prstGeom prst="round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6B6D4"/>
                </a:solidFill>
                <a:latin typeface="Calibri"/>
              </a:defRPr>
            </a:pPr>
            <a:r>
              <a:t>✦  Collect  →  Clean  →  Visualize  →  Ask AI  →  Get Insights — all in one workflow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B5CF6"/>
                </a:solidFill>
                <a:latin typeface="Calibri"/>
              </a:defRPr>
            </a:pPr>
            <a:r>
              <a:t>🔮  Data Science — Predictive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Train ML models on live sensor data to forecast future environmental &amp; health trends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394960" cy="2103120"/>
          </a:xfrm>
          <a:prstGeom prst="roundRect">
            <a:avLst/>
          </a:prstGeom>
          <a:solidFill>
            <a:srgbClr val="1218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5303520" cy="508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📉  ARIMA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Auto-Regressive Integrated Moving Average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Best for: stationary, short-term trends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Auto-fits (p,d,q) parameters from sensor data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Lightweight &amp; fast training on live telemetry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394960" cy="2103120"/>
          </a:xfrm>
          <a:prstGeom prst="roundRect">
            <a:avLst/>
          </a:prstGeom>
          <a:solidFill>
            <a:srgbClr val="1218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5303520" cy="50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🌊  SARIMA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0312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Seasonal ARIMA with periodic decomposition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Best for: temperature, humidity seasonal cycles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Captures daily/weekly repeating patterns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Handles complex multi-factor seasonality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5394960" cy="2103120"/>
          </a:xfrm>
          <a:prstGeom prst="roundRect">
            <a:avLst/>
          </a:prstGeom>
          <a:solidFill>
            <a:srgbClr val="12182A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3977640"/>
            <a:ext cx="5303520" cy="508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🧠  LSTM Neural Network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72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Long Short-Term Memory deep learning model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Best for: complex, non-linear sensor patterns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Learns long-range temporal dependencies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TensorFlow/Keras powered with GPU acceleration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931920"/>
            <a:ext cx="5394960" cy="2103120"/>
          </a:xfrm>
          <a:prstGeom prst="roundRect">
            <a:avLst/>
          </a:prstGeom>
          <a:solidFill>
            <a:srgbClr val="1218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63640" y="3977640"/>
            <a:ext cx="5303520" cy="50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💡  GenAI Model Advisor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572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AI recommends the best model for your sensor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Explains parameters in kid-friendly language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Considers sensor characteristics automatically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Guided setup: training duration, lag, seasonality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6309360"/>
            <a:ext cx="11247120" cy="365760"/>
          </a:xfrm>
          <a:prstGeom prst="round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5CF6"/>
                </a:solidFill>
                <a:latin typeface="Calibri"/>
              </a:defRPr>
            </a:pPr>
            <a:r>
              <a:t>✦  Select Sensor  →  Choose Model  →  Train on Live Data  →  Forecast Future Values  →  AI Explains Results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9E0B"/>
                </a:solidFill>
                <a:latin typeface="Calibri"/>
              </a:defRPr>
            </a:pPr>
            <a:r>
              <a:t>🤖  Generative AI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GPT-4o powered AI assistant with voice, chat, safety guardrails &amp; intelligent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394960" cy="2103120"/>
          </a:xfrm>
          <a:prstGeom prst="roundRect">
            <a:avLst/>
          </a:prstGeom>
          <a:solidFill>
            <a:srgbClr val="1218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5303520" cy="508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💬  AI Chat Assistant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Context-aware conversational AI about sensors &amp; UNSDG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Explains data science results in simple language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Conversation history with session memory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Responds only to educational &amp; science topics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394960" cy="2103120"/>
          </a:xfrm>
          <a:prstGeom prst="roundRect">
            <a:avLst/>
          </a:prstGeom>
          <a:solidFill>
            <a:srgbClr val="1218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5303520" cy="508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🎙️  Voice Assistant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0312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Speech-to-Text via OpenAI Whisper API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Text-to-Speech for AI responses (audio playback)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Premium animated voice UI with waveform effects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Hands-free interaction for young learners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5394960" cy="2103120"/>
          </a:xfrm>
          <a:prstGeom prst="roundRect">
            <a:avLst/>
          </a:prstGeom>
          <a:solidFill>
            <a:srgbClr val="12182A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3977640"/>
            <a:ext cx="5303520" cy="5080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🛡️  Child Safety 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72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Local keyword filtering for inappropriate content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OpenAI Moderation API integration (violence, sexual, hate)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Strict system prompt limiting scope to STEM topics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Automatic refusal with friendly educational redirect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931920"/>
            <a:ext cx="5394960" cy="2103120"/>
          </a:xfrm>
          <a:prstGeom prst="roundRect">
            <a:avLst/>
          </a:prstGeom>
          <a:solidFill>
            <a:srgbClr val="1218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63640" y="3977640"/>
            <a:ext cx="5303520" cy="508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🪄  Intelligent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572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Text-to-Chart: natural language → instant visualization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Cross-sensor correlation &amp; root-cause detection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ML Model Advisor: AI picks the best algorithm for you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▸  Trend summaries with min/max/avg statistics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6309360"/>
            <a:ext cx="11247120" cy="365760"/>
          </a:xfrm>
          <a:prstGeom prst="round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59E0B"/>
                </a:solidFill>
                <a:latin typeface="Calibri"/>
              </a:defRPr>
            </a:pPr>
            <a:r>
              <a:t>✦  Chat  •  Voice  •  Safety  •  Analysis — GenAI woven into every module of the AI Impact Kit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